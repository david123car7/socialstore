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383625" cy="30275213"/>
  <p:notesSz cx="7559675" cy="10691813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berto Simoes" initials="A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 showGuides="1">
      <p:cViewPr varScale="1">
        <p:scale>
          <a:sx n="35" d="100"/>
          <a:sy n="35" d="100"/>
        </p:scale>
        <p:origin x="4098" y="162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3-31T16:53:54" idx="1">
    <p:pos x="3075" y="3175"/>
    <p:text>These sections are examples. Feel free to reorganize the contents.
A poster is more visual than textual. Try to use a set of images, diagrams or other visual tools to present your work goals.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963360" y="796680"/>
            <a:ext cx="19244880" cy="23435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1092996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092996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757584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1408248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757584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1408248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0" y="-526680"/>
            <a:ext cx="21383280" cy="4795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2"/>
          <p:cNvSpPr/>
          <p:nvPr/>
        </p:nvSpPr>
        <p:spPr>
          <a:xfrm>
            <a:off x="0" y="27606240"/>
            <a:ext cx="21383280" cy="2848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Click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to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edit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the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text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format</a:t>
            </a:r>
            <a:endParaRPr lang="pt-PT" sz="655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Second</a:t>
            </a:r>
            <a:r>
              <a:rPr lang="pt-PT" sz="468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68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68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Third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21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Fourth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21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Fifth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Sixth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Seventh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Imagem 4"/>
          <p:cNvPicPr/>
          <p:nvPr/>
        </p:nvPicPr>
        <p:blipFill>
          <a:blip r:embed="rId14"/>
          <a:stretch/>
        </p:blipFill>
        <p:spPr>
          <a:xfrm>
            <a:off x="616320" y="28163520"/>
            <a:ext cx="6241680" cy="1563120"/>
          </a:xfrm>
          <a:prstGeom prst="rect">
            <a:avLst/>
          </a:prstGeom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69CCE331-124C-23E8-471C-2F61F24A16FC}"/>
              </a:ext>
            </a:extLst>
          </p:cNvPr>
          <p:cNvGrpSpPr/>
          <p:nvPr userDrawn="1"/>
        </p:nvGrpSpPr>
        <p:grpSpPr>
          <a:xfrm>
            <a:off x="1609725" y="572366"/>
            <a:ext cx="2924100" cy="2126284"/>
            <a:chOff x="2574925" y="1989507"/>
            <a:chExt cx="2924100" cy="2126284"/>
          </a:xfrm>
        </p:grpSpPr>
        <p:pic>
          <p:nvPicPr>
            <p:cNvPr id="10" name="Google Shape;46;p1">
              <a:extLst>
                <a:ext uri="{FF2B5EF4-FFF2-40B4-BE49-F238E27FC236}">
                  <a16:creationId xmlns:a16="http://schemas.microsoft.com/office/drawing/2014/main" id="{907D0F7A-BE22-5D95-E418-6E434B2AA304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574925" y="1989507"/>
              <a:ext cx="1438275" cy="1437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47;p1">
              <a:extLst>
                <a:ext uri="{FF2B5EF4-FFF2-40B4-BE49-F238E27FC236}">
                  <a16:creationId xmlns:a16="http://schemas.microsoft.com/office/drawing/2014/main" id="{5EE73AE3-D960-A71A-32F3-891A29C5EA99}"/>
                </a:ext>
              </a:extLst>
            </p:cNvPr>
            <p:cNvSpPr txBox="1"/>
            <p:nvPr/>
          </p:nvSpPr>
          <p:spPr>
            <a:xfrm>
              <a:off x="2574925" y="3474391"/>
              <a:ext cx="1438200" cy="6414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0" tIns="33000" rIns="0" bIns="0" anchor="t" anchorCtr="0">
              <a:spAutoFit/>
            </a:bodyPr>
            <a:lstStyle/>
            <a:p>
              <a:pPr marL="432434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50"/>
                <a:buFont typeface="Arial"/>
                <a:buNone/>
              </a:pPr>
              <a:r>
                <a:rPr lang="pt-PT" sz="39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39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8;p1">
              <a:extLst>
                <a:ext uri="{FF2B5EF4-FFF2-40B4-BE49-F238E27FC236}">
                  <a16:creationId xmlns:a16="http://schemas.microsoft.com/office/drawing/2014/main" id="{F48263CC-BC69-45C1-354C-2CC76851CACD}"/>
                </a:ext>
              </a:extLst>
            </p:cNvPr>
            <p:cNvSpPr txBox="1"/>
            <p:nvPr/>
          </p:nvSpPr>
          <p:spPr>
            <a:xfrm>
              <a:off x="4060825" y="1989507"/>
              <a:ext cx="1438200" cy="6402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0" tIns="31750" rIns="0" bIns="0" anchor="t" anchorCtr="0">
              <a:spAutoFit/>
            </a:bodyPr>
            <a:lstStyle/>
            <a:p>
              <a:pPr marL="43370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50"/>
                <a:buFont typeface="Arial"/>
                <a:buNone/>
              </a:pPr>
              <a:r>
                <a:rPr lang="pt-PT" sz="39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39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9;p1">
              <a:extLst>
                <a:ext uri="{FF2B5EF4-FFF2-40B4-BE49-F238E27FC236}">
                  <a16:creationId xmlns:a16="http://schemas.microsoft.com/office/drawing/2014/main" id="{4A8B5F36-5782-9C5D-973F-4FF239463AAA}"/>
                </a:ext>
              </a:extLst>
            </p:cNvPr>
            <p:cNvSpPr txBox="1"/>
            <p:nvPr/>
          </p:nvSpPr>
          <p:spPr>
            <a:xfrm>
              <a:off x="4060825" y="2684323"/>
              <a:ext cx="1438200" cy="1114200"/>
            </a:xfrm>
            <a:prstGeom prst="rect">
              <a:avLst/>
            </a:prstGeom>
            <a:solidFill>
              <a:srgbClr val="007947"/>
            </a:solidFill>
            <a:ln>
              <a:noFill/>
            </a:ln>
          </p:spPr>
          <p:txBody>
            <a:bodyPr spcFirstLastPara="1" wrap="square" lIns="0" tIns="255250" rIns="0" bIns="0" anchor="t" anchorCtr="0">
              <a:spAutoFit/>
            </a:bodyPr>
            <a:lstStyle/>
            <a:p>
              <a:pPr marL="252095" marR="141605" lvl="0" indent="-104775" algn="l" rtl="0">
                <a:lnSpc>
                  <a:spcPct val="1022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lang="pt-PT" sz="27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Future Skills</a:t>
              </a:r>
              <a:endParaRPr sz="2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45;p1">
            <a:extLst>
              <a:ext uri="{FF2B5EF4-FFF2-40B4-BE49-F238E27FC236}">
                <a16:creationId xmlns:a16="http://schemas.microsoft.com/office/drawing/2014/main" id="{5110D3CC-B4A7-BD39-4054-2BB01AC7FA41}"/>
              </a:ext>
            </a:extLst>
          </p:cNvPr>
          <p:cNvSpPr txBox="1"/>
          <p:nvPr userDrawn="1"/>
        </p:nvSpPr>
        <p:spPr>
          <a:xfrm>
            <a:off x="6858000" y="1606688"/>
            <a:ext cx="12915900" cy="131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PT" sz="32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LICENCIATURA EM ENGENHARIA SISTEMAS INFORMÁTICOS</a:t>
            </a:r>
            <a:endParaRPr lang="pt-PT" sz="3200" b="0" i="0" u="none" strike="noStrike" cap="none" dirty="0">
              <a:solidFill>
                <a:schemeClr val="accent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3049905" lvl="0" indent="0" algn="l" rtl="0">
              <a:lnSpc>
                <a:spcPct val="132900"/>
              </a:lnSpc>
              <a:spcBef>
                <a:spcPts val="11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PT" sz="32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3ºano </a:t>
            </a:r>
            <a:r>
              <a:rPr lang="pt-PT" sz="32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pt-PT" sz="32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ºsemestre 2025/2026</a:t>
            </a:r>
          </a:p>
        </p:txBody>
      </p:sp>
      <p:pic>
        <p:nvPicPr>
          <p:cNvPr id="15" name="Google Shape;50;p1">
            <a:extLst>
              <a:ext uri="{FF2B5EF4-FFF2-40B4-BE49-F238E27FC236}">
                <a16:creationId xmlns:a16="http://schemas.microsoft.com/office/drawing/2014/main" id="{CE5325DC-75E3-8FBF-9474-E8662E50CC42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501812" y="3286189"/>
            <a:ext cx="3187625" cy="8371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5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1161000" y="4859640"/>
            <a:ext cx="6010920" cy="13577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4" name="CustomShape 2"/>
          <p:cNvSpPr/>
          <p:nvPr/>
        </p:nvSpPr>
        <p:spPr>
          <a:xfrm>
            <a:off x="7686360" y="4859640"/>
            <a:ext cx="12451680" cy="5921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5" name="CustomShape 3"/>
          <p:cNvSpPr/>
          <p:nvPr/>
        </p:nvSpPr>
        <p:spPr>
          <a:xfrm>
            <a:off x="7686360" y="11421360"/>
            <a:ext cx="12451680" cy="70149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46" name="CustomShape 4"/>
          <p:cNvSpPr/>
          <p:nvPr/>
        </p:nvSpPr>
        <p:spPr>
          <a:xfrm>
            <a:off x="1161000" y="19076760"/>
            <a:ext cx="12469680" cy="8057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7" name="CustomShape 5"/>
          <p:cNvSpPr/>
          <p:nvPr/>
        </p:nvSpPr>
        <p:spPr>
          <a:xfrm>
            <a:off x="14247720" y="19076760"/>
            <a:ext cx="5889960" cy="8057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pic>
        <p:nvPicPr>
          <p:cNvPr id="48" name="Imagem 21"/>
          <p:cNvPicPr/>
          <p:nvPr/>
        </p:nvPicPr>
        <p:blipFill>
          <a:blip r:embed="rId2"/>
          <a:stretch/>
        </p:blipFill>
        <p:spPr>
          <a:xfrm>
            <a:off x="8052840" y="1171584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49" name="Imagem 22"/>
          <p:cNvPicPr/>
          <p:nvPr/>
        </p:nvPicPr>
        <p:blipFill>
          <a:blip r:embed="rId2"/>
          <a:stretch/>
        </p:blipFill>
        <p:spPr>
          <a:xfrm>
            <a:off x="11434500" y="520416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50" name="Imagem 23"/>
          <p:cNvPicPr/>
          <p:nvPr/>
        </p:nvPicPr>
        <p:blipFill>
          <a:blip r:embed="rId2"/>
          <a:stretch/>
        </p:blipFill>
        <p:spPr>
          <a:xfrm>
            <a:off x="1525680" y="511632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51" name="Imagem 24"/>
          <p:cNvPicPr/>
          <p:nvPr/>
        </p:nvPicPr>
        <p:blipFill>
          <a:blip r:embed="rId2"/>
          <a:stretch/>
        </p:blipFill>
        <p:spPr>
          <a:xfrm>
            <a:off x="1525680" y="19333080"/>
            <a:ext cx="304560" cy="367920"/>
          </a:xfrm>
          <a:prstGeom prst="rect">
            <a:avLst/>
          </a:prstGeom>
          <a:ln>
            <a:noFill/>
          </a:ln>
        </p:spPr>
      </p:pic>
      <p:sp>
        <p:nvSpPr>
          <p:cNvPr id="52" name="CustomShape 6"/>
          <p:cNvSpPr/>
          <p:nvPr/>
        </p:nvSpPr>
        <p:spPr>
          <a:xfrm>
            <a:off x="1951200" y="19208160"/>
            <a:ext cx="11679480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RESULTS AND CONCLUSIONS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3" name="CustomShape 7"/>
          <p:cNvSpPr/>
          <p:nvPr/>
        </p:nvSpPr>
        <p:spPr>
          <a:xfrm>
            <a:off x="1525320" y="19978920"/>
            <a:ext cx="5646600" cy="39207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O desenvolvimento deste sistema resultou numa ferramenta robusta que permite aos colaboradores dos SAS gerir, em tempo real e de forma integrada, todo o ciclo de vida do apoio social. A aplicação móvel facilita o registo de entradas e saídas de stock através de leitura de códigos de barras e emite alertas automáticos sobre validades, resolvendo eficazmente o problema do controlo de inventário.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54" name="CustomShape 8"/>
          <p:cNvSpPr/>
          <p:nvPr/>
        </p:nvSpPr>
        <p:spPr>
          <a:xfrm>
            <a:off x="7683120" y="19978920"/>
            <a:ext cx="5436000" cy="4305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Conclui-se que a digitalização dos processos traz benefícios imediatos ao reduzir o erro humano e o tempo despendido em tarefas administrativas. A solução apresentada não só melhora a transparência e a organização interna, como fornece uma base escalável para acompanhar o crescimento futuro das doações e da procura, cumprindo assim a missão de responsabilidade social da instituição com maior eficácia.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55" name="CustomShape 9"/>
          <p:cNvSpPr/>
          <p:nvPr/>
        </p:nvSpPr>
        <p:spPr>
          <a:xfrm>
            <a:off x="8408160" y="11580120"/>
            <a:ext cx="11679480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>
                <a:solidFill>
                  <a:srgbClr val="004B87"/>
                </a:solidFill>
                <a:latin typeface="Calibri"/>
              </a:rPr>
              <a:t>METHODOLOGY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" name="CustomShape 10"/>
          <p:cNvSpPr/>
          <p:nvPr/>
        </p:nvSpPr>
        <p:spPr>
          <a:xfrm>
            <a:off x="1951200" y="5028480"/>
            <a:ext cx="4725720" cy="6393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BACKGROUND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7" name="CustomShape 11"/>
          <p:cNvSpPr/>
          <p:nvPr/>
        </p:nvSpPr>
        <p:spPr>
          <a:xfrm>
            <a:off x="11781900" y="5116320"/>
            <a:ext cx="4725720" cy="6393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OBJECTIVES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8" name="CustomShape 12"/>
          <p:cNvSpPr/>
          <p:nvPr/>
        </p:nvSpPr>
        <p:spPr>
          <a:xfrm>
            <a:off x="1525680" y="5771880"/>
            <a:ext cx="5151240" cy="100763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 Loja Social do IPCA é uma iniciativa solidária destinada a apoiar estudantes em situação de vulnerabilidade socioeconómica através da distribuição gratuita de bens essenciais, como alimentos e produtos de higiene. Atualmente, a gestão deste espaço é realizada de forma maioritariamente manual e baseada em registos de papel, o que gera diversos constrangimentos operacionais.</a:t>
            </a:r>
          </a:p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Esta dependência de processos manuais resulta na descentralização da informação dos beneficiários, dificultando o acesso e a atualização dos dados, bem como na falta de controlo rigoroso sobre o inventário, o que aumenta o risco de desperdício devido a prazos de validade não monitorizados. Adicionalmente, a inexistência de um sistema digital impede uma calendarização eficiente das entregas e a análise detalhada da atividade da loja, comprometendo a escalabilidade do apoio prestado à comunidade académica.</a:t>
            </a:r>
            <a:endParaRPr lang="en-US" sz="2400" spc="-1" dirty="0">
              <a:solidFill>
                <a:srgbClr val="004B87"/>
              </a:solidFill>
              <a:latin typeface="Arial"/>
            </a:endParaRPr>
          </a:p>
        </p:txBody>
      </p:sp>
      <p:sp>
        <p:nvSpPr>
          <p:cNvPr id="59" name="CustomShape 13"/>
          <p:cNvSpPr/>
          <p:nvPr/>
        </p:nvSpPr>
        <p:spPr>
          <a:xfrm>
            <a:off x="7918200" y="12299400"/>
            <a:ext cx="5712120" cy="39207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 abordagem metodológica baseou-se nas melhores práticas de Engenharia de Software, iniciando-se com o levantamento detalhado de requisitos funcionais e não funcionais junto dos Serviços de Ação Social (SAS). Para a modelação dos processos de negócio, utilizou-se a notação BPMN, mapeando fluxos críticos como a candidatura de beneficiários, gestão de inventário e agendamento de entregas.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60" name="CustomShape 14"/>
          <p:cNvSpPr/>
          <p:nvPr/>
        </p:nvSpPr>
        <p:spPr>
          <a:xfrm>
            <a:off x="14144760" y="12299400"/>
            <a:ext cx="5616000" cy="4305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ts val="2999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Tecnicamente, foi desenhada uma arquitetura híbrida que compreende uma aplicação móvel para gestão interna, desenvolvida em Android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Studio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. A persistência e integridade dos dados são asseguradas por uma base de dados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Supabase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, estruturada de acordo com modelos Entidade-Relação e diagramas de classes UML, garantindo a centralização da informação e a segurança nas transações de stock e dados pessoais.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61" name="CustomShape 15"/>
          <p:cNvSpPr/>
          <p:nvPr/>
        </p:nvSpPr>
        <p:spPr>
          <a:xfrm>
            <a:off x="11291940" y="5783400"/>
            <a:ext cx="5712120" cy="39207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6840" algn="just">
              <a:lnSpc>
                <a:spcPts val="2999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Analisar os processos de negócio da Loja Social do IPCA</a:t>
            </a:r>
          </a:p>
          <a:p>
            <a:pPr marL="457200" indent="-456840" algn="just">
              <a:lnSpc>
                <a:spcPts val="2999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Identificar problemas e necessidades funcionais do sistema atual</a:t>
            </a:r>
          </a:p>
          <a:p>
            <a:pPr marL="457200" indent="-456840" algn="just">
              <a:lnSpc>
                <a:spcPts val="2999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Propor uma solução tecnológica integrada</a:t>
            </a:r>
          </a:p>
          <a:p>
            <a:pPr marL="457200" indent="-456840" algn="just">
              <a:lnSpc>
                <a:spcPts val="2999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Melhorar a gestão de beneficiários, doações e stock</a:t>
            </a:r>
          </a:p>
          <a:p>
            <a:pPr marL="457200" indent="-456840" algn="just">
              <a:lnSpc>
                <a:spcPts val="2999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Aumentar a eficiência, fiabilidade e rastreabilidade da informação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62" name="Imagem 38"/>
          <p:cNvPicPr/>
          <p:nvPr/>
        </p:nvPicPr>
        <p:blipFill>
          <a:blip r:embed="rId2"/>
          <a:stretch/>
        </p:blipFill>
        <p:spPr>
          <a:xfrm>
            <a:off x="14574240" y="19333080"/>
            <a:ext cx="304560" cy="367920"/>
          </a:xfrm>
          <a:prstGeom prst="rect">
            <a:avLst/>
          </a:prstGeom>
          <a:ln>
            <a:noFill/>
          </a:ln>
        </p:spPr>
      </p:pic>
      <p:sp>
        <p:nvSpPr>
          <p:cNvPr id="63" name="CustomShape 16"/>
          <p:cNvSpPr/>
          <p:nvPr/>
        </p:nvSpPr>
        <p:spPr>
          <a:xfrm>
            <a:off x="14999760" y="19208160"/>
            <a:ext cx="4761000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BIBLIOGRAPHY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64" name="CustomShape 17"/>
          <p:cNvSpPr/>
          <p:nvPr/>
        </p:nvSpPr>
        <p:spPr>
          <a:xfrm>
            <a:off x="6676920" y="524634"/>
            <a:ext cx="12884400" cy="8878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ts val="6100"/>
              </a:lnSpc>
            </a:pPr>
            <a:r>
              <a:rPr lang="pt-PT" sz="6400" b="1" spc="-1" dirty="0" err="1">
                <a:solidFill>
                  <a:srgbClr val="004B87"/>
                </a:solidFill>
                <a:latin typeface="Calibri"/>
              </a:rPr>
              <a:t>SocialStore</a:t>
            </a:r>
            <a:endParaRPr lang="en-US" sz="6400" b="0" strike="noStrike" spc="-1" dirty="0">
              <a:latin typeface="Arial"/>
            </a:endParaRPr>
          </a:p>
        </p:txBody>
      </p:sp>
      <p:sp>
        <p:nvSpPr>
          <p:cNvPr id="65" name="CustomShape 18"/>
          <p:cNvSpPr/>
          <p:nvPr/>
        </p:nvSpPr>
        <p:spPr>
          <a:xfrm>
            <a:off x="14457600" y="19916280"/>
            <a:ext cx="5400705" cy="629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ts val="2100"/>
              </a:lnSpc>
            </a:pPr>
            <a:r>
              <a:rPr lang="pt-PT" sz="1800" b="0" strike="noStrike" spc="-1" dirty="0">
                <a:solidFill>
                  <a:srgbClr val="004B87"/>
                </a:solidFill>
                <a:latin typeface="Calibri"/>
              </a:rPr>
              <a:t>Documentação fornecida pelos docentes e </a:t>
            </a:r>
            <a:r>
              <a:rPr lang="pt-PT" spc="-1" dirty="0">
                <a:solidFill>
                  <a:srgbClr val="004B87"/>
                </a:solidFill>
                <a:latin typeface="Calibri"/>
              </a:rPr>
              <a:t>Colaboradores</a:t>
            </a:r>
            <a:r>
              <a:rPr lang="pt-PT" sz="1800" b="0" strike="noStrike" spc="-1" dirty="0">
                <a:solidFill>
                  <a:srgbClr val="004B87"/>
                </a:solidFill>
                <a:latin typeface="Calibri"/>
              </a:rPr>
              <a:t> da Ação Social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66" name="CustomShape 19"/>
          <p:cNvSpPr/>
          <p:nvPr/>
        </p:nvSpPr>
        <p:spPr>
          <a:xfrm>
            <a:off x="7955280" y="28254960"/>
            <a:ext cx="6583680" cy="18605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1" strike="noStrike" spc="-1" dirty="0">
                <a:solidFill>
                  <a:srgbClr val="004B87"/>
                </a:solidFill>
                <a:latin typeface="Calibri"/>
                <a:ea typeface="Arial"/>
              </a:rPr>
              <a:t>CONTACTS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0" strike="noStrike" spc="-1" dirty="0">
                <a:solidFill>
                  <a:srgbClr val="004B87"/>
                </a:solidFill>
                <a:latin typeface="Calibri"/>
                <a:ea typeface="Arial"/>
              </a:rPr>
              <a:t>a27973@alunos.ipca.pt (David Carvalho)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0" strike="noStrike" spc="-1" dirty="0">
                <a:solidFill>
                  <a:srgbClr val="004B87"/>
                </a:solidFill>
                <a:latin typeface="Calibri"/>
                <a:ea typeface="Arial"/>
              </a:rPr>
              <a:t>a27972@alunos.ipca.pt (</a:t>
            </a:r>
            <a:r>
              <a:rPr lang="en-GB" sz="1800" b="0" strike="noStrike" spc="-1" dirty="0" err="1">
                <a:solidFill>
                  <a:srgbClr val="004B87"/>
                </a:solidFill>
                <a:latin typeface="Calibri"/>
                <a:ea typeface="Arial"/>
              </a:rPr>
              <a:t>Diogo</a:t>
            </a:r>
            <a:r>
              <a:rPr lang="en-GB" sz="1800" b="0" strike="noStrike" spc="-1" dirty="0">
                <a:solidFill>
                  <a:srgbClr val="004B87"/>
                </a:solidFill>
                <a:latin typeface="Calibri"/>
                <a:ea typeface="Arial"/>
              </a:rPr>
              <a:t> Marques)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0" strike="noStrike" spc="-1" dirty="0">
                <a:solidFill>
                  <a:srgbClr val="004B87"/>
                </a:solidFill>
                <a:latin typeface="Calibri"/>
                <a:ea typeface="Arial"/>
              </a:rPr>
              <a:t>a27976@alunos.ipca.pt (Gabriel Fortes)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pc="-1" dirty="0">
                <a:solidFill>
                  <a:srgbClr val="004B87"/>
                </a:solidFill>
                <a:latin typeface="Calibri"/>
              </a:rPr>
              <a:t>a27984@alunos.ipca.pt (</a:t>
            </a:r>
            <a:r>
              <a:rPr lang="en-GB" spc="-1" dirty="0" err="1">
                <a:solidFill>
                  <a:srgbClr val="004B87"/>
                </a:solidFill>
                <a:latin typeface="Calibri"/>
              </a:rPr>
              <a:t>Gonçalo</a:t>
            </a:r>
            <a:r>
              <a:rPr lang="en-GB" spc="-1" dirty="0">
                <a:solidFill>
                  <a:srgbClr val="004B87"/>
                </a:solidFill>
                <a:latin typeface="Calibri"/>
              </a:rPr>
              <a:t> Vidal)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0" strike="noStrike" spc="-1" dirty="0">
                <a:solidFill>
                  <a:srgbClr val="004B87"/>
                </a:solidFill>
                <a:latin typeface="Calibri"/>
              </a:rPr>
              <a:t>a27951@alunos.ipca.pt (</a:t>
            </a:r>
            <a:r>
              <a:rPr lang="en-GB" sz="1800" b="0" strike="noStrike" spc="-1" dirty="0" err="1">
                <a:solidFill>
                  <a:srgbClr val="004B87"/>
                </a:solidFill>
                <a:latin typeface="Calibri"/>
              </a:rPr>
              <a:t>Diogo</a:t>
            </a:r>
            <a:r>
              <a:rPr lang="en-GB" sz="1800" b="0" strike="noStrike" spc="-1" dirty="0">
                <a:solidFill>
                  <a:srgbClr val="004B87"/>
                </a:solidFill>
                <a:latin typeface="Calibri"/>
              </a:rPr>
              <a:t> Caldas)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1002</TotalTime>
  <Words>512</Words>
  <Application>Microsoft Office PowerPoint</Application>
  <PresentationFormat>Personalizados</PresentationFormat>
  <Paragraphs>24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AMoreira</dc:creator>
  <dc:description/>
  <cp:lastModifiedBy>Gabriel Correia Fortes</cp:lastModifiedBy>
  <cp:revision>107</cp:revision>
  <dcterms:created xsi:type="dcterms:W3CDTF">2014-03-10T11:06:56Z</dcterms:created>
  <dcterms:modified xsi:type="dcterms:W3CDTF">2026-01-14T20:27:19Z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Personalizados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