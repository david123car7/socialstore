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21383625" cy="30275213"/>
  <p:notesSz cx="7559675" cy="10691813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5" userDrawn="1">
          <p15:clr>
            <a:srgbClr val="A4A3A4"/>
          </p15:clr>
        </p15:guide>
        <p15:guide id="2" pos="6735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lberto Simoes" initials="AS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65"/>
  </p:normalViewPr>
  <p:slideViewPr>
    <p:cSldViewPr snapToGrid="0" showGuides="1">
      <p:cViewPr>
        <p:scale>
          <a:sx n="50" d="100"/>
          <a:sy n="50" d="100"/>
        </p:scale>
        <p:origin x="3048" y="-1332"/>
      </p:cViewPr>
      <p:guideLst>
        <p:guide orient="horz" pos="9535"/>
        <p:guide pos="67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commentAuthors" Target="commentAuthors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1-03-31T16:53:54" idx="1">
    <p:pos x="3075" y="3175"/>
    <p:text>These sections are examples. Feel free to reorganize the contents.
A poster is more visual than textual. Try to use a set of images, diagrams or other visual tools to present your work goals.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35" userDrawn="1">
          <p15:clr>
            <a:srgbClr val="FBAE40"/>
          </p15:clr>
        </p15:guide>
        <p15:guide id="2" pos="673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1068840" y="7084080"/>
            <a:ext cx="19244880" cy="17559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1068840" y="7084080"/>
            <a:ext cx="19244880" cy="17559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068840" y="7084080"/>
            <a:ext cx="9391320" cy="17559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0929960" y="7084080"/>
            <a:ext cx="9391320" cy="17559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963360" y="796680"/>
            <a:ext cx="19244880" cy="234356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1068840" y="7084080"/>
            <a:ext cx="939132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10929960" y="7084080"/>
            <a:ext cx="9391320" cy="17559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1068840" y="16255440"/>
            <a:ext cx="939132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1068840" y="7084080"/>
            <a:ext cx="9391320" cy="17559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10929960" y="7084080"/>
            <a:ext cx="939132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10929960" y="16255440"/>
            <a:ext cx="939132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1068840" y="7084080"/>
            <a:ext cx="939132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10929960" y="7084080"/>
            <a:ext cx="939132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1068840" y="16255440"/>
            <a:ext cx="1924488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1068840" y="7084080"/>
            <a:ext cx="1924488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1068840" y="16255440"/>
            <a:ext cx="1924488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068840" y="7084080"/>
            <a:ext cx="939132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0929960" y="7084080"/>
            <a:ext cx="939132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1068840" y="16255440"/>
            <a:ext cx="939132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10929960" y="16255440"/>
            <a:ext cx="939132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068840" y="7084080"/>
            <a:ext cx="619668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7575840" y="7084080"/>
            <a:ext cx="619668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14082480" y="7084080"/>
            <a:ext cx="619668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068840" y="16255440"/>
            <a:ext cx="619668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body"/>
          </p:nvPr>
        </p:nvSpPr>
        <p:spPr>
          <a:xfrm>
            <a:off x="7575840" y="16255440"/>
            <a:ext cx="619668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body"/>
          </p:nvPr>
        </p:nvSpPr>
        <p:spPr>
          <a:xfrm>
            <a:off x="14082480" y="16255440"/>
            <a:ext cx="6196680" cy="8375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pt-PT" sz="655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stomShape 1"/>
          <p:cNvSpPr/>
          <p:nvPr/>
        </p:nvSpPr>
        <p:spPr>
          <a:xfrm>
            <a:off x="0" y="-526680"/>
            <a:ext cx="21383280" cy="4795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" name="CustomShape 2"/>
          <p:cNvSpPr/>
          <p:nvPr/>
        </p:nvSpPr>
        <p:spPr>
          <a:xfrm>
            <a:off x="0" y="27606240"/>
            <a:ext cx="21383280" cy="2848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" name="PlaceHolder 3"/>
          <p:cNvSpPr>
            <a:spLocks noGrp="1"/>
          </p:cNvSpPr>
          <p:nvPr>
            <p:ph type="title"/>
          </p:nvPr>
        </p:nvSpPr>
        <p:spPr>
          <a:xfrm>
            <a:off x="963360" y="796680"/>
            <a:ext cx="19244880" cy="50554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pt-PT" sz="488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body"/>
          </p:nvPr>
        </p:nvSpPr>
        <p:spPr>
          <a:xfrm>
            <a:off x="1068840" y="7084080"/>
            <a:ext cx="19244880" cy="17559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6550" b="0" strike="noStrike" spc="-1" dirty="0" err="1">
                <a:solidFill>
                  <a:srgbClr val="000000"/>
                </a:solidFill>
                <a:latin typeface="Calibri"/>
              </a:rPr>
              <a:t>Click</a:t>
            </a:r>
            <a:r>
              <a:rPr lang="pt-PT" sz="6550" b="0" strike="noStrike" spc="-1" dirty="0">
                <a:solidFill>
                  <a:srgbClr val="000000"/>
                </a:solidFill>
                <a:latin typeface="Calibri"/>
              </a:rPr>
              <a:t> to </a:t>
            </a:r>
            <a:r>
              <a:rPr lang="pt-PT" sz="6550" b="0" strike="noStrike" spc="-1" dirty="0" err="1">
                <a:solidFill>
                  <a:srgbClr val="000000"/>
                </a:solidFill>
                <a:latin typeface="Calibri"/>
              </a:rPr>
              <a:t>edit</a:t>
            </a:r>
            <a:r>
              <a:rPr lang="pt-PT" sz="655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6550" b="0" strike="noStrike" spc="-1" dirty="0" err="1">
                <a:solidFill>
                  <a:srgbClr val="000000"/>
                </a:solidFill>
                <a:latin typeface="Calibri"/>
              </a:rPr>
              <a:t>the</a:t>
            </a:r>
            <a:r>
              <a:rPr lang="pt-PT" sz="655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6550" b="0" strike="noStrike" spc="-1" dirty="0" err="1">
                <a:solidFill>
                  <a:srgbClr val="000000"/>
                </a:solidFill>
                <a:latin typeface="Calibri"/>
              </a:rPr>
              <a:t>outline</a:t>
            </a:r>
            <a:r>
              <a:rPr lang="pt-PT" sz="655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6550" b="0" strike="noStrike" spc="-1" dirty="0" err="1">
                <a:solidFill>
                  <a:srgbClr val="000000"/>
                </a:solidFill>
                <a:latin typeface="Calibri"/>
              </a:rPr>
              <a:t>text</a:t>
            </a:r>
            <a:r>
              <a:rPr lang="pt-PT" sz="655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6550" b="0" strike="noStrike" spc="-1" dirty="0" err="1">
                <a:solidFill>
                  <a:srgbClr val="000000"/>
                </a:solidFill>
                <a:latin typeface="Calibri"/>
              </a:rPr>
              <a:t>format</a:t>
            </a:r>
            <a:endParaRPr lang="pt-PT" sz="6550" b="0" strike="noStrike" spc="-1" dirty="0">
              <a:solidFill>
                <a:srgbClr val="000000"/>
              </a:solidFill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4680" b="0" strike="noStrike" spc="-1" dirty="0" err="1">
                <a:solidFill>
                  <a:srgbClr val="000000"/>
                </a:solidFill>
                <a:latin typeface="Calibri"/>
              </a:rPr>
              <a:t>Second</a:t>
            </a:r>
            <a:r>
              <a:rPr lang="pt-PT" sz="468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4680" b="0" strike="noStrike" spc="-1" dirty="0" err="1">
                <a:solidFill>
                  <a:srgbClr val="000000"/>
                </a:solidFill>
                <a:latin typeface="Calibri"/>
              </a:rPr>
              <a:t>Outline</a:t>
            </a:r>
            <a:r>
              <a:rPr lang="pt-PT" sz="468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4680" b="0" strike="noStrike" spc="-1" dirty="0" err="1">
                <a:solidFill>
                  <a:srgbClr val="000000"/>
                </a:solidFill>
                <a:latin typeface="Calibri"/>
              </a:rPr>
              <a:t>Level</a:t>
            </a:r>
            <a:endParaRPr lang="pt-PT" sz="4680" b="0" strike="noStrike" spc="-1" dirty="0">
              <a:solidFill>
                <a:srgbClr val="000000"/>
              </a:solidFill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4210" b="0" strike="noStrike" spc="-1" dirty="0" err="1">
                <a:solidFill>
                  <a:srgbClr val="000000"/>
                </a:solidFill>
                <a:latin typeface="Calibri"/>
              </a:rPr>
              <a:t>Third</a:t>
            </a:r>
            <a:r>
              <a:rPr lang="pt-PT" sz="421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4210" b="0" strike="noStrike" spc="-1" dirty="0" err="1">
                <a:solidFill>
                  <a:srgbClr val="000000"/>
                </a:solidFill>
                <a:latin typeface="Calibri"/>
              </a:rPr>
              <a:t>Outline</a:t>
            </a:r>
            <a:r>
              <a:rPr lang="pt-PT" sz="421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4210" b="0" strike="noStrike" spc="-1" dirty="0" err="1">
                <a:solidFill>
                  <a:srgbClr val="000000"/>
                </a:solidFill>
                <a:latin typeface="Calibri"/>
              </a:rPr>
              <a:t>Level</a:t>
            </a:r>
            <a:endParaRPr lang="pt-PT" sz="4210" b="0" strike="noStrike" spc="-1" dirty="0">
              <a:solidFill>
                <a:srgbClr val="000000"/>
              </a:solidFill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4210" b="0" strike="noStrike" spc="-1" dirty="0" err="1">
                <a:solidFill>
                  <a:srgbClr val="000000"/>
                </a:solidFill>
                <a:latin typeface="Calibri"/>
              </a:rPr>
              <a:t>Fourth</a:t>
            </a:r>
            <a:r>
              <a:rPr lang="pt-PT" sz="421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4210" b="0" strike="noStrike" spc="-1" dirty="0" err="1">
                <a:solidFill>
                  <a:srgbClr val="000000"/>
                </a:solidFill>
                <a:latin typeface="Calibri"/>
              </a:rPr>
              <a:t>Outline</a:t>
            </a:r>
            <a:r>
              <a:rPr lang="pt-PT" sz="421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4210" b="0" strike="noStrike" spc="-1" dirty="0" err="1">
                <a:solidFill>
                  <a:srgbClr val="000000"/>
                </a:solidFill>
                <a:latin typeface="Calibri"/>
              </a:rPr>
              <a:t>Level</a:t>
            </a:r>
            <a:endParaRPr lang="pt-PT" sz="4210" b="0" strike="noStrike" spc="-1" dirty="0">
              <a:solidFill>
                <a:srgbClr val="000000"/>
              </a:solidFill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strike="noStrike" spc="-1" dirty="0" err="1">
                <a:solidFill>
                  <a:srgbClr val="000000"/>
                </a:solidFill>
                <a:latin typeface="Calibri"/>
              </a:rPr>
              <a:t>Fifth</a:t>
            </a:r>
            <a:r>
              <a:rPr lang="pt-PT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2000" b="0" strike="noStrike" spc="-1" dirty="0" err="1">
                <a:solidFill>
                  <a:srgbClr val="000000"/>
                </a:solidFill>
                <a:latin typeface="Calibri"/>
              </a:rPr>
              <a:t>Outline</a:t>
            </a:r>
            <a:r>
              <a:rPr lang="pt-PT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2000" b="0" strike="noStrike" spc="-1" dirty="0" err="1">
                <a:solidFill>
                  <a:srgbClr val="000000"/>
                </a:solidFill>
                <a:latin typeface="Calibri"/>
              </a:rPr>
              <a:t>Level</a:t>
            </a:r>
            <a:endParaRPr lang="pt-PT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strike="noStrike" spc="-1" dirty="0" err="1">
                <a:solidFill>
                  <a:srgbClr val="000000"/>
                </a:solidFill>
                <a:latin typeface="Calibri"/>
              </a:rPr>
              <a:t>Sixth</a:t>
            </a:r>
            <a:r>
              <a:rPr lang="pt-PT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2000" b="0" strike="noStrike" spc="-1" dirty="0" err="1">
                <a:solidFill>
                  <a:srgbClr val="000000"/>
                </a:solidFill>
                <a:latin typeface="Calibri"/>
              </a:rPr>
              <a:t>Outline</a:t>
            </a:r>
            <a:r>
              <a:rPr lang="pt-PT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2000" b="0" strike="noStrike" spc="-1" dirty="0" err="1">
                <a:solidFill>
                  <a:srgbClr val="000000"/>
                </a:solidFill>
                <a:latin typeface="Calibri"/>
              </a:rPr>
              <a:t>Level</a:t>
            </a:r>
            <a:endParaRPr lang="pt-PT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strike="noStrike" spc="-1" dirty="0" err="1">
                <a:solidFill>
                  <a:srgbClr val="000000"/>
                </a:solidFill>
                <a:latin typeface="Calibri"/>
              </a:rPr>
              <a:t>Seventh</a:t>
            </a:r>
            <a:r>
              <a:rPr lang="pt-PT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2000" b="0" strike="noStrike" spc="-1" dirty="0" err="1">
                <a:solidFill>
                  <a:srgbClr val="000000"/>
                </a:solidFill>
                <a:latin typeface="Calibri"/>
              </a:rPr>
              <a:t>Outline</a:t>
            </a:r>
            <a:r>
              <a:rPr lang="pt-PT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pt-PT" sz="2000" b="0" strike="noStrike" spc="-1" dirty="0" err="1">
                <a:solidFill>
                  <a:srgbClr val="000000"/>
                </a:solidFill>
                <a:latin typeface="Calibri"/>
              </a:rPr>
              <a:t>Level</a:t>
            </a:r>
            <a:endParaRPr lang="pt-PT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5" name="Imagem 4"/>
          <p:cNvPicPr/>
          <p:nvPr/>
        </p:nvPicPr>
        <p:blipFill>
          <a:blip r:embed="rId14"/>
          <a:stretch/>
        </p:blipFill>
        <p:spPr>
          <a:xfrm>
            <a:off x="616320" y="28163520"/>
            <a:ext cx="6241680" cy="1563120"/>
          </a:xfrm>
          <a:prstGeom prst="rect">
            <a:avLst/>
          </a:prstGeom>
          <a:ln>
            <a:noFill/>
          </a:ln>
        </p:spPr>
      </p:pic>
      <p:grpSp>
        <p:nvGrpSpPr>
          <p:cNvPr id="9" name="Agrupar 8">
            <a:extLst>
              <a:ext uri="{FF2B5EF4-FFF2-40B4-BE49-F238E27FC236}">
                <a16:creationId xmlns:a16="http://schemas.microsoft.com/office/drawing/2014/main" id="{69CCE331-124C-23E8-471C-2F61F24A16FC}"/>
              </a:ext>
            </a:extLst>
          </p:cNvPr>
          <p:cNvGrpSpPr/>
          <p:nvPr userDrawn="1"/>
        </p:nvGrpSpPr>
        <p:grpSpPr>
          <a:xfrm>
            <a:off x="1609725" y="572366"/>
            <a:ext cx="2924100" cy="2126284"/>
            <a:chOff x="2574925" y="1989507"/>
            <a:chExt cx="2924100" cy="2126284"/>
          </a:xfrm>
        </p:grpSpPr>
        <p:pic>
          <p:nvPicPr>
            <p:cNvPr id="10" name="Google Shape;46;p1">
              <a:extLst>
                <a:ext uri="{FF2B5EF4-FFF2-40B4-BE49-F238E27FC236}">
                  <a16:creationId xmlns:a16="http://schemas.microsoft.com/office/drawing/2014/main" id="{907D0F7A-BE22-5D95-E418-6E434B2AA304}"/>
                </a:ext>
              </a:extLst>
            </p:cNvPr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2574925" y="1989507"/>
              <a:ext cx="1438275" cy="143725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" name="Google Shape;47;p1">
              <a:extLst>
                <a:ext uri="{FF2B5EF4-FFF2-40B4-BE49-F238E27FC236}">
                  <a16:creationId xmlns:a16="http://schemas.microsoft.com/office/drawing/2014/main" id="{5EE73AE3-D960-A71A-32F3-891A29C5EA99}"/>
                </a:ext>
              </a:extLst>
            </p:cNvPr>
            <p:cNvSpPr txBox="1"/>
            <p:nvPr/>
          </p:nvSpPr>
          <p:spPr>
            <a:xfrm>
              <a:off x="2574925" y="3474391"/>
              <a:ext cx="1438200" cy="64140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txBody>
            <a:bodyPr spcFirstLastPara="1" wrap="square" lIns="0" tIns="33000" rIns="0" bIns="0" anchor="t" anchorCtr="0">
              <a:spAutoFit/>
            </a:bodyPr>
            <a:lstStyle/>
            <a:p>
              <a:pPr marL="432434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950"/>
                <a:buFont typeface="Arial"/>
                <a:buNone/>
              </a:pPr>
              <a:r>
                <a:rPr lang="pt-PT" sz="3950" b="1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50</a:t>
              </a:r>
              <a:endParaRPr sz="39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48;p1">
              <a:extLst>
                <a:ext uri="{FF2B5EF4-FFF2-40B4-BE49-F238E27FC236}">
                  <a16:creationId xmlns:a16="http://schemas.microsoft.com/office/drawing/2014/main" id="{F48263CC-BC69-45C1-354C-2CC76851CACD}"/>
                </a:ext>
              </a:extLst>
            </p:cNvPr>
            <p:cNvSpPr txBox="1"/>
            <p:nvPr/>
          </p:nvSpPr>
          <p:spPr>
            <a:xfrm>
              <a:off x="4060825" y="1989507"/>
              <a:ext cx="1438200" cy="64020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txBody>
            <a:bodyPr spcFirstLastPara="1" wrap="square" lIns="0" tIns="31750" rIns="0" bIns="0" anchor="t" anchorCtr="0">
              <a:spAutoFit/>
            </a:bodyPr>
            <a:lstStyle/>
            <a:p>
              <a:pPr marL="433705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950"/>
                <a:buFont typeface="Arial"/>
                <a:buNone/>
              </a:pPr>
              <a:r>
                <a:rPr lang="pt-PT" sz="3950" b="1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10</a:t>
              </a:r>
              <a:endParaRPr sz="39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49;p1">
              <a:extLst>
                <a:ext uri="{FF2B5EF4-FFF2-40B4-BE49-F238E27FC236}">
                  <a16:creationId xmlns:a16="http://schemas.microsoft.com/office/drawing/2014/main" id="{4A8B5F36-5782-9C5D-973F-4FF239463AAA}"/>
                </a:ext>
              </a:extLst>
            </p:cNvPr>
            <p:cNvSpPr txBox="1"/>
            <p:nvPr/>
          </p:nvSpPr>
          <p:spPr>
            <a:xfrm>
              <a:off x="4060825" y="2684323"/>
              <a:ext cx="1438200" cy="1114200"/>
            </a:xfrm>
            <a:prstGeom prst="rect">
              <a:avLst/>
            </a:prstGeom>
            <a:solidFill>
              <a:srgbClr val="007947"/>
            </a:solidFill>
            <a:ln>
              <a:noFill/>
            </a:ln>
          </p:spPr>
          <p:txBody>
            <a:bodyPr spcFirstLastPara="1" wrap="square" lIns="0" tIns="255250" rIns="0" bIns="0" anchor="t" anchorCtr="0">
              <a:spAutoFit/>
            </a:bodyPr>
            <a:lstStyle/>
            <a:p>
              <a:pPr marL="252095" marR="141605" lvl="0" indent="-104775" algn="l" rtl="0">
                <a:lnSpc>
                  <a:spcPct val="102299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50"/>
                <a:buFont typeface="Arial"/>
                <a:buNone/>
              </a:pPr>
              <a:r>
                <a:rPr lang="pt-PT" sz="2750" b="1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Future Skills</a:t>
              </a:r>
              <a:endParaRPr sz="27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" name="Google Shape;45;p1">
            <a:extLst>
              <a:ext uri="{FF2B5EF4-FFF2-40B4-BE49-F238E27FC236}">
                <a16:creationId xmlns:a16="http://schemas.microsoft.com/office/drawing/2014/main" id="{5110D3CC-B4A7-BD39-4054-2BB01AC7FA41}"/>
              </a:ext>
            </a:extLst>
          </p:cNvPr>
          <p:cNvSpPr txBox="1"/>
          <p:nvPr userDrawn="1"/>
        </p:nvSpPr>
        <p:spPr>
          <a:xfrm>
            <a:off x="6858000" y="1606688"/>
            <a:ext cx="12915900" cy="1314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pt-PT" sz="3200" b="1" i="0" u="none" strike="noStrike" cap="none" dirty="0">
                <a:solidFill>
                  <a:schemeClr val="accent1">
                    <a:lumMod val="5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LICENCIATURA EM ENGENHARIA SISTEMAS INFORMÁTICOS</a:t>
            </a:r>
            <a:endParaRPr lang="pt-PT" sz="3200" b="0" i="0" u="none" strike="noStrike" cap="none" dirty="0">
              <a:solidFill>
                <a:schemeClr val="accent1">
                  <a:lumMod val="5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12700" marR="3049905" lvl="0" indent="0" algn="l" rtl="0">
              <a:lnSpc>
                <a:spcPct val="132900"/>
              </a:lnSpc>
              <a:spcBef>
                <a:spcPts val="117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pt-PT" sz="3200" b="0" i="0" u="none" strike="noStrike" cap="none" dirty="0">
                <a:solidFill>
                  <a:schemeClr val="accent1">
                    <a:lumMod val="5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3ºano </a:t>
            </a:r>
            <a:r>
              <a:rPr lang="pt-PT" sz="3200" dirty="0">
                <a:solidFill>
                  <a:schemeClr val="accent1">
                    <a:lumMod val="50000"/>
                  </a:schemeClr>
                </a:solidFill>
              </a:rPr>
              <a:t>1</a:t>
            </a:r>
            <a:r>
              <a:rPr lang="pt-PT" sz="3200" b="0" i="0" u="none" strike="noStrike" cap="none" dirty="0">
                <a:solidFill>
                  <a:schemeClr val="accent1">
                    <a:lumMod val="5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ºsemestre 2025/2026</a:t>
            </a:r>
          </a:p>
        </p:txBody>
      </p:sp>
      <p:pic>
        <p:nvPicPr>
          <p:cNvPr id="15" name="Google Shape;50;p1">
            <a:extLst>
              <a:ext uri="{FF2B5EF4-FFF2-40B4-BE49-F238E27FC236}">
                <a16:creationId xmlns:a16="http://schemas.microsoft.com/office/drawing/2014/main" id="{CE5325DC-75E3-8FBF-9474-E8662E50CC42}"/>
              </a:ext>
            </a:extLst>
          </p:cNvPr>
          <p:cNvPicPr preferRelativeResize="0"/>
          <p:nvPr userDrawn="1"/>
        </p:nvPicPr>
        <p:blipFill rotWithShape="1">
          <a:blip r:embed="rId16">
            <a:alphaModFix/>
          </a:blip>
          <a:srcRect/>
          <a:stretch/>
        </p:blipFill>
        <p:spPr>
          <a:xfrm>
            <a:off x="1501812" y="3286189"/>
            <a:ext cx="3187625" cy="83710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535" userDrawn="1">
          <p15:clr>
            <a:srgbClr val="F26B43"/>
          </p15:clr>
        </p15:guide>
        <p15:guide id="2" pos="673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wmf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ustomShape 1"/>
          <p:cNvSpPr/>
          <p:nvPr/>
        </p:nvSpPr>
        <p:spPr>
          <a:xfrm>
            <a:off x="1161000" y="4859640"/>
            <a:ext cx="6010920" cy="135770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7923" dir="4201013" sx="101000" sy="101000" algn="tl" rotWithShape="0">
              <a:schemeClr val="bg2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44" name="CustomShape 2"/>
          <p:cNvSpPr/>
          <p:nvPr/>
        </p:nvSpPr>
        <p:spPr>
          <a:xfrm>
            <a:off x="7686360" y="4859640"/>
            <a:ext cx="12451680" cy="5921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7923" dir="4201013" sx="101000" sy="101000" algn="tl" rotWithShape="0">
              <a:schemeClr val="bg2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45" name="CustomShape 3"/>
          <p:cNvSpPr/>
          <p:nvPr/>
        </p:nvSpPr>
        <p:spPr>
          <a:xfrm>
            <a:off x="7686360" y="11421360"/>
            <a:ext cx="12451680" cy="70149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7923" dir="4201013" sx="101000" sy="101000" algn="tl" rotWithShape="0">
              <a:schemeClr val="bg2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pt-PT" dirty="0"/>
          </a:p>
        </p:txBody>
      </p:sp>
      <p:sp>
        <p:nvSpPr>
          <p:cNvPr id="46" name="CustomShape 4"/>
          <p:cNvSpPr/>
          <p:nvPr/>
        </p:nvSpPr>
        <p:spPr>
          <a:xfrm>
            <a:off x="1161000" y="19076760"/>
            <a:ext cx="12469680" cy="80571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7923" dir="4201013" sx="101000" sy="101000" algn="tl" rotWithShape="0">
              <a:schemeClr val="bg2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47" name="CustomShape 5"/>
          <p:cNvSpPr/>
          <p:nvPr/>
        </p:nvSpPr>
        <p:spPr>
          <a:xfrm>
            <a:off x="14247720" y="19076760"/>
            <a:ext cx="5889960" cy="805716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7923" dir="4201013" sx="101000" sy="101000" algn="tl" rotWithShape="0">
              <a:schemeClr val="bg2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48" name="Imagem 21"/>
          <p:cNvPicPr/>
          <p:nvPr/>
        </p:nvPicPr>
        <p:blipFill>
          <a:blip r:embed="rId2"/>
          <a:stretch/>
        </p:blipFill>
        <p:spPr>
          <a:xfrm>
            <a:off x="8052840" y="11715840"/>
            <a:ext cx="304560" cy="367920"/>
          </a:xfrm>
          <a:prstGeom prst="rect">
            <a:avLst/>
          </a:prstGeom>
          <a:ln>
            <a:noFill/>
          </a:ln>
        </p:spPr>
      </p:pic>
      <p:pic>
        <p:nvPicPr>
          <p:cNvPr id="49" name="Imagem 22"/>
          <p:cNvPicPr/>
          <p:nvPr/>
        </p:nvPicPr>
        <p:blipFill>
          <a:blip r:embed="rId2"/>
          <a:stretch/>
        </p:blipFill>
        <p:spPr>
          <a:xfrm>
            <a:off x="8060760" y="5116320"/>
            <a:ext cx="304560" cy="367920"/>
          </a:xfrm>
          <a:prstGeom prst="rect">
            <a:avLst/>
          </a:prstGeom>
          <a:ln>
            <a:noFill/>
          </a:ln>
        </p:spPr>
      </p:pic>
      <p:pic>
        <p:nvPicPr>
          <p:cNvPr id="50" name="Imagem 23"/>
          <p:cNvPicPr/>
          <p:nvPr/>
        </p:nvPicPr>
        <p:blipFill>
          <a:blip r:embed="rId2"/>
          <a:stretch/>
        </p:blipFill>
        <p:spPr>
          <a:xfrm>
            <a:off x="1525680" y="5116320"/>
            <a:ext cx="304560" cy="367920"/>
          </a:xfrm>
          <a:prstGeom prst="rect">
            <a:avLst/>
          </a:prstGeom>
          <a:ln>
            <a:noFill/>
          </a:ln>
        </p:spPr>
      </p:pic>
      <p:pic>
        <p:nvPicPr>
          <p:cNvPr id="51" name="Imagem 24"/>
          <p:cNvPicPr/>
          <p:nvPr/>
        </p:nvPicPr>
        <p:blipFill>
          <a:blip r:embed="rId2"/>
          <a:stretch/>
        </p:blipFill>
        <p:spPr>
          <a:xfrm>
            <a:off x="1525680" y="19333080"/>
            <a:ext cx="304560" cy="367920"/>
          </a:xfrm>
          <a:prstGeom prst="rect">
            <a:avLst/>
          </a:prstGeom>
          <a:ln>
            <a:noFill/>
          </a:ln>
        </p:spPr>
      </p:pic>
      <p:sp>
        <p:nvSpPr>
          <p:cNvPr id="52" name="CustomShape 6"/>
          <p:cNvSpPr/>
          <p:nvPr/>
        </p:nvSpPr>
        <p:spPr>
          <a:xfrm>
            <a:off x="1951200" y="19208160"/>
            <a:ext cx="11679480" cy="6393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pt-PT" sz="3600" b="1" strike="noStrike" spc="-1" dirty="0">
                <a:solidFill>
                  <a:srgbClr val="004B87"/>
                </a:solidFill>
                <a:latin typeface="Calibri"/>
              </a:rPr>
              <a:t>RESULTS AND CONCLUSIONS</a:t>
            </a:r>
            <a:endParaRPr lang="en-US" sz="3600" b="0" strike="noStrike" spc="-1" dirty="0">
              <a:latin typeface="Arial"/>
            </a:endParaRPr>
          </a:p>
        </p:txBody>
      </p:sp>
      <p:sp>
        <p:nvSpPr>
          <p:cNvPr id="53" name="CustomShape 7"/>
          <p:cNvSpPr/>
          <p:nvPr/>
        </p:nvSpPr>
        <p:spPr>
          <a:xfrm>
            <a:off x="1525320" y="19978920"/>
            <a:ext cx="5646600" cy="392077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just">
              <a:lnSpc>
                <a:spcPts val="2999"/>
              </a:lnSpc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O desenvolvimento deste sistema resultou numa ferramenta robusta que permite aos colaboradores dos SAS gerir, em tempo real e de forma integrada, todo o ciclo de vida do apoio social. A aplicação móvel facilita o registo de entradas e saídas de stock através de leitura de códigos de barras e emite alertas automáticos sobre validades, resolvendo eficazmente o problema do controlo de inventário.</a:t>
            </a:r>
            <a:endParaRPr lang="en-US" sz="2400" b="0" strike="noStrike" spc="-1" dirty="0">
              <a:latin typeface="Arial"/>
            </a:endParaRPr>
          </a:p>
        </p:txBody>
      </p:sp>
      <p:sp>
        <p:nvSpPr>
          <p:cNvPr id="54" name="CustomShape 8"/>
          <p:cNvSpPr/>
          <p:nvPr/>
        </p:nvSpPr>
        <p:spPr>
          <a:xfrm>
            <a:off x="7683120" y="19978920"/>
            <a:ext cx="5436000" cy="4305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just">
              <a:lnSpc>
                <a:spcPts val="2999"/>
              </a:lnSpc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Conclui-se que a digitalização dos processos traz benefícios imediatos ao reduzir o erro humano e o tempo despendido em tarefas administrativas. A solução apresentada não só melhora a transparência e a organização interna, como fornece uma base escalável para acompanhar o crescimento futuro das doações e da procura, cumprindo assim a missão de responsabilidade social da instituição com maior eficácia.</a:t>
            </a:r>
            <a:endParaRPr lang="en-US" sz="2400" b="0" strike="noStrike" spc="-1" dirty="0">
              <a:latin typeface="Arial"/>
            </a:endParaRPr>
          </a:p>
        </p:txBody>
      </p:sp>
      <p:sp>
        <p:nvSpPr>
          <p:cNvPr id="55" name="CustomShape 9"/>
          <p:cNvSpPr/>
          <p:nvPr/>
        </p:nvSpPr>
        <p:spPr>
          <a:xfrm>
            <a:off x="8408160" y="11580120"/>
            <a:ext cx="11679480" cy="6393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pt-PT" sz="3600" b="1" strike="noStrike" spc="-1">
                <a:solidFill>
                  <a:srgbClr val="004B87"/>
                </a:solidFill>
                <a:latin typeface="Calibri"/>
              </a:rPr>
              <a:t>METHODOLOGY</a:t>
            </a:r>
            <a:endParaRPr lang="en-US" sz="3600" b="0" strike="noStrike" spc="-1">
              <a:latin typeface="Arial"/>
            </a:endParaRPr>
          </a:p>
        </p:txBody>
      </p:sp>
      <p:sp>
        <p:nvSpPr>
          <p:cNvPr id="56" name="CustomShape 10"/>
          <p:cNvSpPr/>
          <p:nvPr/>
        </p:nvSpPr>
        <p:spPr>
          <a:xfrm>
            <a:off x="1951200" y="5028480"/>
            <a:ext cx="4725720" cy="639360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pt-PT" sz="3600" b="1" strike="noStrike" spc="-1" dirty="0">
                <a:solidFill>
                  <a:srgbClr val="004B87"/>
                </a:solidFill>
                <a:latin typeface="Calibri"/>
              </a:rPr>
              <a:t>BACKGROUND</a:t>
            </a:r>
            <a:endParaRPr lang="en-US" sz="3600" b="0" strike="noStrike" spc="-1" dirty="0">
              <a:latin typeface="Arial"/>
            </a:endParaRPr>
          </a:p>
        </p:txBody>
      </p:sp>
      <p:sp>
        <p:nvSpPr>
          <p:cNvPr id="57" name="CustomShape 11"/>
          <p:cNvSpPr/>
          <p:nvPr/>
        </p:nvSpPr>
        <p:spPr>
          <a:xfrm>
            <a:off x="8408160" y="5028480"/>
            <a:ext cx="4725720" cy="639360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pt-PT" sz="3600" b="1" strike="noStrike" spc="-1">
                <a:solidFill>
                  <a:srgbClr val="004B87"/>
                </a:solidFill>
                <a:latin typeface="Calibri"/>
              </a:rPr>
              <a:t>OBJECTIVES</a:t>
            </a:r>
            <a:endParaRPr lang="en-US" sz="3600" b="0" strike="noStrike" spc="-1">
              <a:latin typeface="Arial"/>
            </a:endParaRPr>
          </a:p>
        </p:txBody>
      </p:sp>
      <p:sp>
        <p:nvSpPr>
          <p:cNvPr id="58" name="CustomShape 12"/>
          <p:cNvSpPr/>
          <p:nvPr/>
        </p:nvSpPr>
        <p:spPr>
          <a:xfrm>
            <a:off x="1525680" y="5771880"/>
            <a:ext cx="5151240" cy="1007630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just">
              <a:lnSpc>
                <a:spcPts val="2999"/>
              </a:lnSpc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A Loja Social do IPCA é uma iniciativa solidária destinada a apoiar estudantes em situação de vulnerabilidade socioeconómica através da distribuição gratuita de bens essenciais, como alimentos e produtos de higiene. Atualmente, a gestão deste espaço é realizada de forma maioritariamente manual e baseada em registos de papel, o que gera diversos constrangimentos operacionais.</a:t>
            </a:r>
          </a:p>
          <a:p>
            <a:pPr algn="just">
              <a:lnSpc>
                <a:spcPts val="2999"/>
              </a:lnSpc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Esta dependência de processos manuais resulta na descentralização da informação dos beneficiários, dificultando o acesso e a atualização dos dados, bem como na falta de controlo rigoroso sobre o inventário, o que aumenta o risco de desperdício devido a prazos de validade não monitorizados. Adicionalmente, a inexistência de um sistema digital impede uma calendarização eficiente das entregas e a análise detalhada da atividade da loja, comprometendo a escalabilidade do apoio prestado à comunidade académica.</a:t>
            </a:r>
            <a:endParaRPr lang="en-US" sz="2400" spc="-1" dirty="0">
              <a:solidFill>
                <a:srgbClr val="004B87"/>
              </a:solidFill>
              <a:latin typeface="Arial"/>
            </a:endParaRPr>
          </a:p>
        </p:txBody>
      </p:sp>
      <p:sp>
        <p:nvSpPr>
          <p:cNvPr id="59" name="CustomShape 13"/>
          <p:cNvSpPr/>
          <p:nvPr/>
        </p:nvSpPr>
        <p:spPr>
          <a:xfrm>
            <a:off x="7918200" y="12299400"/>
            <a:ext cx="5712120" cy="392077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just">
              <a:lnSpc>
                <a:spcPts val="2999"/>
              </a:lnSpc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A abordagem metodológica baseou-se nas melhores práticas de Engenharia de Software, iniciando-se com o levantamento detalhado de requisitos funcionais e não funcionais junto dos Serviços de Ação Social (SAS). Para a modelação dos processos de negócio, utilizou-se a notação BPMN, mapeando fluxos críticos como a candidatura de beneficiários, gestão de inventário e agendamento de entregas.</a:t>
            </a:r>
            <a:endParaRPr lang="en-US" sz="2400" b="0" strike="noStrike" spc="-1" dirty="0">
              <a:latin typeface="Arial"/>
            </a:endParaRPr>
          </a:p>
        </p:txBody>
      </p:sp>
      <p:sp>
        <p:nvSpPr>
          <p:cNvPr id="60" name="CustomShape 14"/>
          <p:cNvSpPr/>
          <p:nvPr/>
        </p:nvSpPr>
        <p:spPr>
          <a:xfrm>
            <a:off x="14144760" y="12299400"/>
            <a:ext cx="5616000" cy="4305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just">
              <a:lnSpc>
                <a:spcPts val="2999"/>
              </a:lnSpc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Tecnicamente, foi desenhada uma arquitetura híbrida que compreende uma aplicação móvel para gestão interna, desenvolvida em Android </a:t>
            </a:r>
            <a:r>
              <a:rPr lang="pt-PT" sz="2400" b="0" strike="noStrike" spc="-1" dirty="0" err="1">
                <a:solidFill>
                  <a:srgbClr val="004B87"/>
                </a:solidFill>
                <a:latin typeface="Calibri"/>
              </a:rPr>
              <a:t>Studio</a:t>
            </a: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. A persistência e integridade dos dados são asseguradas por uma base de dados </a:t>
            </a:r>
            <a:r>
              <a:rPr lang="pt-PT" sz="2400" b="0" strike="noStrike" spc="-1" dirty="0" err="1">
                <a:solidFill>
                  <a:srgbClr val="004B87"/>
                </a:solidFill>
                <a:latin typeface="Calibri"/>
              </a:rPr>
              <a:t>Supabase</a:t>
            </a: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, estruturada de acordo com modelos Entidade-Relação e diagramas de classes UML, garantindo a centralização da informação e a segurança nas transações de stock e dados pessoais.</a:t>
            </a:r>
            <a:endParaRPr lang="en-US" sz="2400" b="0" strike="noStrike" spc="-1" dirty="0">
              <a:latin typeface="Arial"/>
            </a:endParaRPr>
          </a:p>
        </p:txBody>
      </p:sp>
      <p:sp>
        <p:nvSpPr>
          <p:cNvPr id="61" name="CustomShape 15"/>
          <p:cNvSpPr/>
          <p:nvPr/>
        </p:nvSpPr>
        <p:spPr>
          <a:xfrm>
            <a:off x="7918200" y="5695560"/>
            <a:ext cx="5712120" cy="468136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just">
              <a:lnSpc>
                <a:spcPts val="2999"/>
              </a:lnSpc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Write </a:t>
            </a:r>
            <a:r>
              <a:rPr lang="pt-PT" sz="2400" b="0" strike="noStrike" spc="-1" dirty="0" err="1">
                <a:solidFill>
                  <a:srgbClr val="004B87"/>
                </a:solidFill>
                <a:latin typeface="Calibri"/>
              </a:rPr>
              <a:t>here</a:t>
            </a: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...</a:t>
            </a:r>
            <a:endParaRPr lang="en-US" sz="2400" b="0" strike="noStrike" spc="-1" dirty="0">
              <a:latin typeface="Arial"/>
            </a:endParaRPr>
          </a:p>
          <a:p>
            <a:pPr algn="just">
              <a:lnSpc>
                <a:spcPts val="2999"/>
              </a:lnSpc>
            </a:pPr>
            <a:endParaRPr lang="en-US" sz="2400" b="0" strike="noStrike" spc="-1" dirty="0">
              <a:latin typeface="Arial"/>
            </a:endParaRPr>
          </a:p>
          <a:p>
            <a:pPr marL="457200" indent="-456840" algn="just">
              <a:lnSpc>
                <a:spcPts val="2999"/>
              </a:lnSpc>
              <a:buClr>
                <a:srgbClr val="004B87"/>
              </a:buClr>
              <a:buFont typeface="Calibri Light"/>
              <a:buAutoNum type="arabicPeriod"/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Analisar os processos de negócio da Loja Social do IPCA</a:t>
            </a:r>
          </a:p>
          <a:p>
            <a:pPr marL="457200" indent="-456840" algn="just">
              <a:lnSpc>
                <a:spcPts val="2999"/>
              </a:lnSpc>
              <a:buClr>
                <a:srgbClr val="004B87"/>
              </a:buClr>
              <a:buFont typeface="Calibri Light"/>
              <a:buAutoNum type="arabicPeriod"/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Identificar problemas e necessidades funcionais do sistema atual</a:t>
            </a:r>
          </a:p>
          <a:p>
            <a:pPr marL="457200" indent="-456840" algn="just">
              <a:lnSpc>
                <a:spcPts val="2999"/>
              </a:lnSpc>
              <a:buClr>
                <a:srgbClr val="004B87"/>
              </a:buClr>
              <a:buFont typeface="Calibri Light"/>
              <a:buAutoNum type="arabicPeriod"/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Propor uma solução tecnológica integrada</a:t>
            </a:r>
          </a:p>
          <a:p>
            <a:pPr marL="457200" indent="-456840" algn="just">
              <a:lnSpc>
                <a:spcPts val="2999"/>
              </a:lnSpc>
              <a:buClr>
                <a:srgbClr val="004B87"/>
              </a:buClr>
              <a:buFont typeface="Calibri Light"/>
              <a:buAutoNum type="arabicPeriod"/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Melhorar a gestão de beneficiários, doações e stock</a:t>
            </a:r>
          </a:p>
          <a:p>
            <a:pPr marL="457200" indent="-456840" algn="just">
              <a:lnSpc>
                <a:spcPts val="2999"/>
              </a:lnSpc>
              <a:buClr>
                <a:srgbClr val="004B87"/>
              </a:buClr>
              <a:buFont typeface="Calibri Light"/>
              <a:buAutoNum type="arabicPeriod"/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Aumentar a eficiência, fiabilidade e rastreabilidade da informação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62" name="Imagem 38"/>
          <p:cNvPicPr/>
          <p:nvPr/>
        </p:nvPicPr>
        <p:blipFill>
          <a:blip r:embed="rId2"/>
          <a:stretch/>
        </p:blipFill>
        <p:spPr>
          <a:xfrm>
            <a:off x="14574240" y="19333080"/>
            <a:ext cx="304560" cy="367920"/>
          </a:xfrm>
          <a:prstGeom prst="rect">
            <a:avLst/>
          </a:prstGeom>
          <a:ln>
            <a:noFill/>
          </a:ln>
        </p:spPr>
      </p:pic>
      <p:sp>
        <p:nvSpPr>
          <p:cNvPr id="63" name="CustomShape 16"/>
          <p:cNvSpPr/>
          <p:nvPr/>
        </p:nvSpPr>
        <p:spPr>
          <a:xfrm>
            <a:off x="14999760" y="19208160"/>
            <a:ext cx="4761000" cy="6393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pt-PT" sz="3600" b="1" strike="noStrike" spc="-1" dirty="0">
                <a:solidFill>
                  <a:srgbClr val="004B87"/>
                </a:solidFill>
                <a:latin typeface="Calibri"/>
              </a:rPr>
              <a:t>BIBLIOGRAPHY</a:t>
            </a:r>
            <a:endParaRPr lang="en-US" sz="3600" b="0" strike="noStrike" spc="-1" dirty="0">
              <a:latin typeface="Arial"/>
            </a:endParaRPr>
          </a:p>
        </p:txBody>
      </p:sp>
      <p:sp>
        <p:nvSpPr>
          <p:cNvPr id="64" name="CustomShape 17"/>
          <p:cNvSpPr/>
          <p:nvPr/>
        </p:nvSpPr>
        <p:spPr>
          <a:xfrm>
            <a:off x="6676920" y="524634"/>
            <a:ext cx="12884400" cy="88789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ts val="6100"/>
              </a:lnSpc>
            </a:pPr>
            <a:r>
              <a:rPr lang="pt-PT" sz="6400" b="1" spc="-1" dirty="0" err="1">
                <a:solidFill>
                  <a:srgbClr val="004B87"/>
                </a:solidFill>
                <a:latin typeface="Calibri"/>
              </a:rPr>
              <a:t>SocialStore</a:t>
            </a:r>
            <a:endParaRPr lang="en-US" sz="6400" b="0" strike="noStrike" spc="-1" dirty="0">
              <a:latin typeface="Arial"/>
            </a:endParaRPr>
          </a:p>
        </p:txBody>
      </p:sp>
      <p:sp>
        <p:nvSpPr>
          <p:cNvPr id="65" name="CustomShape 18"/>
          <p:cNvSpPr/>
          <p:nvPr/>
        </p:nvSpPr>
        <p:spPr>
          <a:xfrm>
            <a:off x="14457600" y="19916280"/>
            <a:ext cx="5646600" cy="6294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just">
              <a:lnSpc>
                <a:spcPts val="2100"/>
              </a:lnSpc>
            </a:pPr>
            <a:r>
              <a:rPr lang="pt-PT" sz="1800" b="0" strike="noStrike" spc="-1" dirty="0">
                <a:solidFill>
                  <a:srgbClr val="004B87"/>
                </a:solidFill>
                <a:latin typeface="Calibri"/>
              </a:rPr>
              <a:t>Documentação fornecida pelos docentes e trabalhadores da Ação Social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66" name="CustomShape 19"/>
          <p:cNvSpPr/>
          <p:nvPr/>
        </p:nvSpPr>
        <p:spPr>
          <a:xfrm>
            <a:off x="7955280" y="28254960"/>
            <a:ext cx="6583680" cy="18605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ts val="1760"/>
              </a:lnSpc>
              <a:spcAft>
                <a:spcPts val="601"/>
              </a:spcAft>
            </a:pPr>
            <a:r>
              <a:rPr lang="en-GB" sz="1800" b="1" strike="noStrike" spc="-1" dirty="0">
                <a:solidFill>
                  <a:srgbClr val="004B87"/>
                </a:solidFill>
                <a:latin typeface="Calibri"/>
                <a:ea typeface="Arial"/>
              </a:rPr>
              <a:t>CONTACTS</a:t>
            </a:r>
            <a:endParaRPr lang="en-US" sz="1800" b="0" strike="noStrike" spc="-1" dirty="0">
              <a:latin typeface="Arial"/>
            </a:endParaRPr>
          </a:p>
          <a:p>
            <a:pPr>
              <a:lnSpc>
                <a:spcPts val="1760"/>
              </a:lnSpc>
              <a:spcAft>
                <a:spcPts val="601"/>
              </a:spcAft>
            </a:pPr>
            <a:r>
              <a:rPr lang="en-GB" sz="1800" b="0" strike="noStrike" spc="-1" dirty="0">
                <a:solidFill>
                  <a:srgbClr val="004B87"/>
                </a:solidFill>
                <a:latin typeface="Calibri"/>
                <a:ea typeface="Arial"/>
              </a:rPr>
              <a:t>a27973@alunos.ipca.pt (David Carvalho)</a:t>
            </a:r>
            <a:endParaRPr lang="en-US" sz="1800" b="0" strike="noStrike" spc="-1" dirty="0">
              <a:latin typeface="Arial"/>
            </a:endParaRPr>
          </a:p>
          <a:p>
            <a:pPr>
              <a:lnSpc>
                <a:spcPts val="1760"/>
              </a:lnSpc>
              <a:spcAft>
                <a:spcPts val="601"/>
              </a:spcAft>
            </a:pPr>
            <a:r>
              <a:rPr lang="en-GB" sz="1800" b="0" strike="noStrike" spc="-1" dirty="0">
                <a:solidFill>
                  <a:srgbClr val="004B87"/>
                </a:solidFill>
                <a:latin typeface="Calibri"/>
                <a:ea typeface="Arial"/>
              </a:rPr>
              <a:t>a27972@alunos.ipca.pt (</a:t>
            </a:r>
            <a:r>
              <a:rPr lang="en-GB" sz="1800" b="0" strike="noStrike" spc="-1" dirty="0" err="1">
                <a:solidFill>
                  <a:srgbClr val="004B87"/>
                </a:solidFill>
                <a:latin typeface="Calibri"/>
                <a:ea typeface="Arial"/>
              </a:rPr>
              <a:t>Diogo</a:t>
            </a:r>
            <a:r>
              <a:rPr lang="en-GB" sz="1800" b="0" strike="noStrike" spc="-1" dirty="0">
                <a:solidFill>
                  <a:srgbClr val="004B87"/>
                </a:solidFill>
                <a:latin typeface="Calibri"/>
                <a:ea typeface="Arial"/>
              </a:rPr>
              <a:t> Marques)</a:t>
            </a:r>
            <a:endParaRPr lang="en-US" sz="1800" b="0" strike="noStrike" spc="-1" dirty="0">
              <a:latin typeface="Arial"/>
            </a:endParaRPr>
          </a:p>
          <a:p>
            <a:pPr>
              <a:lnSpc>
                <a:spcPts val="1760"/>
              </a:lnSpc>
              <a:spcAft>
                <a:spcPts val="601"/>
              </a:spcAft>
            </a:pPr>
            <a:r>
              <a:rPr lang="en-GB" sz="1800" b="0" strike="noStrike" spc="-1" dirty="0">
                <a:solidFill>
                  <a:srgbClr val="004B87"/>
                </a:solidFill>
                <a:latin typeface="Calibri"/>
                <a:ea typeface="Arial"/>
              </a:rPr>
              <a:t>a27976@alunos.ipca.pt (Gabriel Fortes)</a:t>
            </a:r>
          </a:p>
          <a:p>
            <a:pPr>
              <a:lnSpc>
                <a:spcPts val="1760"/>
              </a:lnSpc>
              <a:spcAft>
                <a:spcPts val="601"/>
              </a:spcAft>
            </a:pPr>
            <a:r>
              <a:rPr lang="en-GB" spc="-1" dirty="0">
                <a:solidFill>
                  <a:srgbClr val="004B87"/>
                </a:solidFill>
                <a:latin typeface="Calibri"/>
              </a:rPr>
              <a:t>a27984@alunos.ipca.pt (</a:t>
            </a:r>
            <a:r>
              <a:rPr lang="en-GB" spc="-1" dirty="0" err="1">
                <a:solidFill>
                  <a:srgbClr val="004B87"/>
                </a:solidFill>
                <a:latin typeface="Calibri"/>
              </a:rPr>
              <a:t>Gonçalo</a:t>
            </a:r>
            <a:r>
              <a:rPr lang="en-GB" spc="-1" dirty="0">
                <a:solidFill>
                  <a:srgbClr val="004B87"/>
                </a:solidFill>
                <a:latin typeface="Calibri"/>
              </a:rPr>
              <a:t> Vidal)</a:t>
            </a:r>
          </a:p>
          <a:p>
            <a:pPr>
              <a:lnSpc>
                <a:spcPts val="1760"/>
              </a:lnSpc>
              <a:spcAft>
                <a:spcPts val="601"/>
              </a:spcAft>
            </a:pPr>
            <a:r>
              <a:rPr lang="en-GB" sz="1800" b="0" strike="noStrike" spc="-1" dirty="0">
                <a:solidFill>
                  <a:srgbClr val="004B87"/>
                </a:solidFill>
                <a:latin typeface="Calibri"/>
              </a:rPr>
              <a:t>a27951@alunos.ipca.pt (</a:t>
            </a:r>
            <a:r>
              <a:rPr lang="en-GB" sz="1800" b="0" strike="noStrike" spc="-1" dirty="0" err="1">
                <a:solidFill>
                  <a:srgbClr val="004B87"/>
                </a:solidFill>
                <a:latin typeface="Calibri"/>
              </a:rPr>
              <a:t>Diogo</a:t>
            </a:r>
            <a:r>
              <a:rPr lang="en-GB" sz="1800" b="0" strike="noStrike" spc="-1" dirty="0">
                <a:solidFill>
                  <a:srgbClr val="004B87"/>
                </a:solidFill>
                <a:latin typeface="Calibri"/>
              </a:rPr>
              <a:t> Caldas)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67" name="CustomShape 20"/>
          <p:cNvSpPr/>
          <p:nvPr/>
        </p:nvSpPr>
        <p:spPr>
          <a:xfrm>
            <a:off x="14144760" y="5695560"/>
            <a:ext cx="5616000" cy="3518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just">
              <a:lnSpc>
                <a:spcPts val="2999"/>
              </a:lnSpc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Write </a:t>
            </a:r>
            <a:r>
              <a:rPr lang="pt-PT" sz="2400" b="0" strike="noStrike" spc="-1" dirty="0" err="1">
                <a:solidFill>
                  <a:srgbClr val="004B87"/>
                </a:solidFill>
                <a:latin typeface="Calibri"/>
              </a:rPr>
              <a:t>here</a:t>
            </a: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...</a:t>
            </a:r>
            <a:endParaRPr lang="en-US" sz="2400" b="0" strike="noStrike" spc="-1" dirty="0">
              <a:latin typeface="Arial"/>
            </a:endParaRPr>
          </a:p>
          <a:p>
            <a:pPr algn="just">
              <a:lnSpc>
                <a:spcPts val="2999"/>
              </a:lnSpc>
            </a:pPr>
            <a:endParaRPr lang="en-US" sz="2400" b="0" strike="noStrike" spc="-1" dirty="0">
              <a:latin typeface="Arial"/>
            </a:endParaRPr>
          </a:p>
          <a:p>
            <a:pPr marL="343080" indent="-342720" algn="just">
              <a:lnSpc>
                <a:spcPts val="2999"/>
              </a:lnSpc>
              <a:buSzPct val="100000"/>
              <a:buBlip>
                <a:blip r:embed="rId3"/>
              </a:buBlip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Item da lista 1</a:t>
            </a:r>
            <a:endParaRPr lang="en-US" sz="2400" b="0" strike="noStrike" spc="-1" dirty="0">
              <a:latin typeface="Arial"/>
            </a:endParaRPr>
          </a:p>
          <a:p>
            <a:pPr marL="343080" indent="-342720" algn="just">
              <a:lnSpc>
                <a:spcPts val="2999"/>
              </a:lnSpc>
              <a:buSzPct val="100000"/>
              <a:buBlip>
                <a:blip r:embed="rId3"/>
              </a:buBlip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tem da lista 2</a:t>
            </a:r>
            <a:endParaRPr lang="en-US" sz="2400" b="0" strike="noStrike" spc="-1" dirty="0">
              <a:latin typeface="Arial"/>
            </a:endParaRPr>
          </a:p>
          <a:p>
            <a:pPr marL="343080" indent="-342720" algn="just">
              <a:lnSpc>
                <a:spcPts val="2999"/>
              </a:lnSpc>
              <a:buSzPct val="100000"/>
              <a:buBlip>
                <a:blip r:embed="rId3"/>
              </a:buBlip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Item da lista 3</a:t>
            </a:r>
            <a:endParaRPr lang="en-US" sz="2400" b="0" strike="noStrike" spc="-1" dirty="0">
              <a:latin typeface="Arial"/>
            </a:endParaRPr>
          </a:p>
          <a:p>
            <a:pPr marL="343080" indent="-342720" algn="just">
              <a:lnSpc>
                <a:spcPts val="2999"/>
              </a:lnSpc>
              <a:buSzPct val="100000"/>
              <a:buBlip>
                <a:blip r:embed="rId3"/>
              </a:buBlip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Item da lista 4</a:t>
            </a:r>
            <a:endParaRPr lang="en-US" sz="2400" b="0" strike="noStrike" spc="-1" dirty="0">
              <a:latin typeface="Arial"/>
            </a:endParaRPr>
          </a:p>
          <a:p>
            <a:pPr marL="343080" indent="-342720" algn="just">
              <a:lnSpc>
                <a:spcPts val="2999"/>
              </a:lnSpc>
              <a:buSzPct val="100000"/>
              <a:buBlip>
                <a:blip r:embed="rId3"/>
              </a:buBlip>
            </a:pPr>
            <a:r>
              <a:rPr lang="pt-PT" sz="2400" b="0" strike="noStrike" spc="-1" dirty="0">
                <a:solidFill>
                  <a:srgbClr val="004B87"/>
                </a:solidFill>
                <a:latin typeface="Calibri"/>
              </a:rPr>
              <a:t>Item da lista 5</a:t>
            </a:r>
            <a:endParaRPr lang="en-US" sz="2400" b="0" strike="noStrike" spc="-1" dirty="0">
              <a:latin typeface="Arial"/>
            </a:endParaRPr>
          </a:p>
          <a:p>
            <a:pPr algn="just">
              <a:lnSpc>
                <a:spcPts val="2999"/>
              </a:lnSpc>
            </a:pPr>
            <a:endParaRPr lang="en-US" sz="2400" b="0" strike="noStrike" spc="-1" dirty="0">
              <a:latin typeface="Arial"/>
            </a:endParaRPr>
          </a:p>
          <a:p>
            <a:pPr algn="just">
              <a:lnSpc>
                <a:spcPts val="2999"/>
              </a:lnSpc>
            </a:pPr>
            <a:endParaRPr lang="en-US" sz="24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858</TotalTime>
  <Words>538</Words>
  <Application>Microsoft Office PowerPoint</Application>
  <PresentationFormat>Personalizados</PresentationFormat>
  <Paragraphs>33</Paragraphs>
  <Slides>1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Symbol</vt:lpstr>
      <vt:lpstr>Wingdings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AMoreira</dc:creator>
  <dc:description/>
  <cp:lastModifiedBy>Gabriel Correia Fortes</cp:lastModifiedBy>
  <cp:revision>103</cp:revision>
  <dcterms:created xsi:type="dcterms:W3CDTF">2014-03-10T11:06:56Z</dcterms:created>
  <dcterms:modified xsi:type="dcterms:W3CDTF">2026-01-12T18:31:46Z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Personalizados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</vt:i4>
  </property>
</Properties>
</file>